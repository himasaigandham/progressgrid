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FFFFF">
              <a:alpha val="40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5"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FFFFF">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659210"/>
            <a:ext cx="8151763" cy="1329035"/>
          </a:xfrm>
          <a:prstGeom prst="rect">
            <a:avLst/>
          </a:prstGeom>
          <a:noFill/>
          <a:ln/>
        </p:spPr>
        <p:txBody>
          <a:bodyPr wrap="none" lIns="0" tIns="0" rIns="0" bIns="0" rtlCol="0" anchor="t"/>
          <a:lstStyle/>
          <a:p>
            <a:pPr algn="ctr" indent="0" marL="0">
              <a:lnSpc>
                <a:spcPct val="104000"/>
              </a:lnSpc>
              <a:buNone/>
            </a:pPr>
            <a:r>
              <a:rPr lang="en-US" sz="8350" b="1" spc="-251" kern="0" dirty="0">
                <a:solidFill>
                  <a:srgbClr val="F44444"/>
                </a:solidFill>
                <a:latin typeface="Inter Bold" pitchFamily="34" charset="0"/>
                <a:ea typeface="Inter Bold" pitchFamily="34" charset="-122"/>
                <a:cs typeface="Inter Bold" pitchFamily="34" charset="-120"/>
              </a:rPr>
              <a:t>ProgressGrid</a:t>
            </a:r>
            <a:endParaRPr lang="en-US" sz="8350" dirty="0"/>
          </a:p>
        </p:txBody>
      </p:sp>
      <p:sp>
        <p:nvSpPr>
          <p:cNvPr id="3" name="Text 1"/>
          <p:cNvSpPr/>
          <p:nvPr/>
        </p:nvSpPr>
        <p:spPr>
          <a:xfrm>
            <a:off x="267519" y="3200846"/>
            <a:ext cx="8608963" cy="283443"/>
          </a:xfrm>
          <a:prstGeom prst="rect">
            <a:avLst/>
          </a:prstGeom>
          <a:noFill/>
          <a:ln/>
        </p:spPr>
        <p:txBody>
          <a:bodyPr wrap="none" lIns="0" tIns="0" rIns="0" bIns="0" rtlCol="0" anchor="t"/>
          <a:lstStyle/>
          <a:p>
            <a:pPr algn="ctr"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Track. Improve. Achieve.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071935"/>
            <a:ext cx="8151763" cy="442987"/>
          </a:xfrm>
          <a:prstGeom prst="rect">
            <a:avLst/>
          </a:prstGeom>
          <a:noFill/>
          <a:ln/>
        </p:spPr>
        <p:txBody>
          <a:bodyPr wrap="none" lIns="0" tIns="0" rIns="0" bIns="0" rtlCol="0" anchor="t"/>
          <a:lstStyle/>
          <a:p>
            <a:pPr algn="l" indent="0" marL="0">
              <a:lnSpc>
                <a:spcPct val="104000"/>
              </a:lnSpc>
              <a:buNone/>
            </a:pPr>
            <a:r>
              <a:rPr lang="en-US" sz="2750" b="1" spc="-84" kern="0" dirty="0">
                <a:solidFill>
                  <a:srgbClr val="F44444"/>
                </a:solidFill>
                <a:latin typeface="Inter Bold" pitchFamily="34" charset="0"/>
                <a:ea typeface="Inter Bold" pitchFamily="34" charset="-122"/>
                <a:cs typeface="Inter Bold" pitchFamily="34" charset="-120"/>
              </a:rPr>
              <a:t>Our Team</a:t>
            </a:r>
            <a:endParaRPr lang="en-US" sz="2750" dirty="0"/>
          </a:p>
        </p:txBody>
      </p:sp>
      <p:sp>
        <p:nvSpPr>
          <p:cNvPr id="3" name="Shape 1"/>
          <p:cNvSpPr/>
          <p:nvPr/>
        </p:nvSpPr>
        <p:spPr>
          <a:xfrm>
            <a:off x="496119" y="1727522"/>
            <a:ext cx="8151763" cy="2343969"/>
          </a:xfrm>
          <a:prstGeom prst="roundRect">
            <a:avLst>
              <a:gd name="adj" fmla="val 2540"/>
            </a:avLst>
          </a:prstGeom>
          <a:noFill/>
          <a:ln w="4763">
            <a:solidFill>
              <a:srgbClr val="000000">
                <a:alpha val="8000"/>
              </a:srgbClr>
            </a:solidFill>
            <a:prstDash val="solid"/>
          </a:ln>
        </p:spPr>
      </p:sp>
      <p:sp>
        <p:nvSpPr>
          <p:cNvPr id="4" name="Shape 2"/>
          <p:cNvSpPr/>
          <p:nvPr/>
        </p:nvSpPr>
        <p:spPr>
          <a:xfrm>
            <a:off x="496119" y="2197745"/>
            <a:ext cx="8151763" cy="8860"/>
          </a:xfrm>
          <a:prstGeom prst="rect">
            <a:avLst/>
          </a:prstGeom>
          <a:solidFill>
            <a:srgbClr val="000000">
              <a:alpha val="8000"/>
            </a:srgbClr>
          </a:solidFill>
          <a:ln/>
        </p:spPr>
      </p:sp>
      <p:sp>
        <p:nvSpPr>
          <p:cNvPr id="5" name="Shape 3"/>
          <p:cNvSpPr/>
          <p:nvPr/>
        </p:nvSpPr>
        <p:spPr>
          <a:xfrm>
            <a:off x="496119" y="2665586"/>
            <a:ext cx="8151763" cy="8860"/>
          </a:xfrm>
          <a:prstGeom prst="rect">
            <a:avLst/>
          </a:prstGeom>
          <a:solidFill>
            <a:srgbClr val="000000">
              <a:alpha val="8000"/>
            </a:srgbClr>
          </a:solidFill>
          <a:ln/>
        </p:spPr>
      </p:sp>
      <p:sp>
        <p:nvSpPr>
          <p:cNvPr id="6" name="Shape 4"/>
          <p:cNvSpPr/>
          <p:nvPr/>
        </p:nvSpPr>
        <p:spPr>
          <a:xfrm>
            <a:off x="496119" y="3133427"/>
            <a:ext cx="8151763" cy="8860"/>
          </a:xfrm>
          <a:prstGeom prst="rect">
            <a:avLst/>
          </a:prstGeom>
          <a:solidFill>
            <a:srgbClr val="000000">
              <a:alpha val="8000"/>
            </a:srgbClr>
          </a:solidFill>
          <a:ln/>
        </p:spPr>
      </p:sp>
      <p:sp>
        <p:nvSpPr>
          <p:cNvPr id="7" name="Shape 5"/>
          <p:cNvSpPr/>
          <p:nvPr/>
        </p:nvSpPr>
        <p:spPr>
          <a:xfrm>
            <a:off x="496119" y="3601269"/>
            <a:ext cx="8151763" cy="8860"/>
          </a:xfrm>
          <a:prstGeom prst="rect">
            <a:avLst/>
          </a:prstGeom>
          <a:solidFill>
            <a:srgbClr val="000000">
              <a:alpha val="8000"/>
            </a:srgbClr>
          </a:solidFill>
          <a:ln/>
        </p:spPr>
      </p:sp>
      <p:sp>
        <p:nvSpPr>
          <p:cNvPr id="8" name="Shape 6"/>
          <p:cNvSpPr/>
          <p:nvPr/>
        </p:nvSpPr>
        <p:spPr>
          <a:xfrm>
            <a:off x="1478012" y="1727522"/>
            <a:ext cx="8860" cy="2343969"/>
          </a:xfrm>
          <a:prstGeom prst="rect">
            <a:avLst/>
          </a:prstGeom>
          <a:solidFill>
            <a:srgbClr val="000000">
              <a:alpha val="8000"/>
            </a:srgbClr>
          </a:solidFill>
          <a:ln/>
        </p:spPr>
      </p:sp>
      <p:sp>
        <p:nvSpPr>
          <p:cNvPr id="9" name="Shape 7"/>
          <p:cNvSpPr/>
          <p:nvPr/>
        </p:nvSpPr>
        <p:spPr>
          <a:xfrm>
            <a:off x="5793358" y="1727522"/>
            <a:ext cx="8860" cy="2343969"/>
          </a:xfrm>
          <a:prstGeom prst="rect">
            <a:avLst/>
          </a:prstGeom>
          <a:solidFill>
            <a:srgbClr val="000000">
              <a:alpha val="8000"/>
            </a:srgbClr>
          </a:solidFill>
          <a:ln/>
        </p:spPr>
      </p:sp>
      <p:sp>
        <p:nvSpPr>
          <p:cNvPr id="10" name="Text 8"/>
          <p:cNvSpPr/>
          <p:nvPr/>
        </p:nvSpPr>
        <p:spPr>
          <a:xfrm>
            <a:off x="642714" y="1822103"/>
            <a:ext cx="1148358" cy="283443"/>
          </a:xfrm>
          <a:prstGeom prst="rect">
            <a:avLst/>
          </a:prstGeom>
          <a:noFill/>
          <a:ln/>
        </p:spPr>
        <p:txBody>
          <a:bodyPr wrap="none" lIns="0" tIns="0" rIns="0" bIns="0" rtlCol="0" anchor="t"/>
          <a:lstStyle/>
          <a:p>
            <a:pPr algn="l" indent="0" marL="0">
              <a:lnSpc>
                <a:spcPct val="133000"/>
              </a:lnSpc>
              <a:buNone/>
            </a:pPr>
            <a:r>
              <a:rPr lang="en-US" sz="1350" b="1" spc="-22" kern="0" dirty="0">
                <a:solidFill>
                  <a:srgbClr val="272525"/>
                </a:solidFill>
                <a:latin typeface="Inter Bold" pitchFamily="34" charset="0"/>
                <a:ea typeface="Inter Bold" pitchFamily="34" charset="-122"/>
                <a:cs typeface="Inter Bold" pitchFamily="34" charset="-120"/>
              </a:rPr>
              <a:t>S.No</a:t>
            </a:r>
            <a:endParaRPr lang="en-US" sz="1350" dirty="0"/>
          </a:p>
        </p:txBody>
      </p:sp>
      <p:sp>
        <p:nvSpPr>
          <p:cNvPr id="11" name="Text 9"/>
          <p:cNvSpPr/>
          <p:nvPr/>
        </p:nvSpPr>
        <p:spPr>
          <a:xfrm>
            <a:off x="1622152" y="1822103"/>
            <a:ext cx="4484266" cy="283443"/>
          </a:xfrm>
          <a:prstGeom prst="rect">
            <a:avLst/>
          </a:prstGeom>
          <a:noFill/>
          <a:ln/>
        </p:spPr>
        <p:txBody>
          <a:bodyPr wrap="none" lIns="0" tIns="0" rIns="0" bIns="0" rtlCol="0" anchor="t"/>
          <a:lstStyle/>
          <a:p>
            <a:pPr algn="l" indent="0" marL="0">
              <a:lnSpc>
                <a:spcPct val="133000"/>
              </a:lnSpc>
              <a:buNone/>
            </a:pPr>
            <a:r>
              <a:rPr lang="en-US" sz="1350" b="1" spc="-22" kern="0" dirty="0">
                <a:solidFill>
                  <a:srgbClr val="272525"/>
                </a:solidFill>
                <a:latin typeface="Inter Bold" pitchFamily="34" charset="0"/>
                <a:ea typeface="Inter Bold" pitchFamily="34" charset="-122"/>
                <a:cs typeface="Inter Bold" pitchFamily="34" charset="-120"/>
              </a:rPr>
              <a:t>Name</a:t>
            </a:r>
            <a:endParaRPr lang="en-US" sz="1350" dirty="0"/>
          </a:p>
        </p:txBody>
      </p:sp>
      <p:sp>
        <p:nvSpPr>
          <p:cNvPr id="12" name="Text 10"/>
          <p:cNvSpPr/>
          <p:nvPr/>
        </p:nvSpPr>
        <p:spPr>
          <a:xfrm>
            <a:off x="5937498" y="1822103"/>
            <a:ext cx="3021062" cy="283443"/>
          </a:xfrm>
          <a:prstGeom prst="rect">
            <a:avLst/>
          </a:prstGeom>
          <a:noFill/>
          <a:ln/>
        </p:spPr>
        <p:txBody>
          <a:bodyPr wrap="none" lIns="0" tIns="0" rIns="0" bIns="0" rtlCol="0" anchor="t"/>
          <a:lstStyle/>
          <a:p>
            <a:pPr algn="l" indent="0" marL="0">
              <a:lnSpc>
                <a:spcPct val="133000"/>
              </a:lnSpc>
              <a:buNone/>
            </a:pPr>
            <a:r>
              <a:rPr lang="en-US" sz="1350" b="1" spc="-22" kern="0" dirty="0">
                <a:solidFill>
                  <a:srgbClr val="000000"/>
                </a:solidFill>
                <a:latin typeface="Inter Bold" pitchFamily="34" charset="0"/>
                <a:ea typeface="Inter Bold" pitchFamily="34" charset="-122"/>
                <a:cs typeface="Inter Bold" pitchFamily="34" charset="-120"/>
              </a:rPr>
              <a:t>RA Number</a:t>
            </a:r>
            <a:endParaRPr lang="en-US" sz="1350" dirty="0"/>
          </a:p>
        </p:txBody>
      </p:sp>
      <p:sp>
        <p:nvSpPr>
          <p:cNvPr id="13" name="Text 11"/>
          <p:cNvSpPr/>
          <p:nvPr/>
        </p:nvSpPr>
        <p:spPr>
          <a:xfrm>
            <a:off x="642714" y="2289944"/>
            <a:ext cx="1148358"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1</a:t>
            </a:r>
            <a:endParaRPr lang="en-US" sz="1350" dirty="0"/>
          </a:p>
        </p:txBody>
      </p:sp>
      <p:sp>
        <p:nvSpPr>
          <p:cNvPr id="14" name="Text 12"/>
          <p:cNvSpPr/>
          <p:nvPr/>
        </p:nvSpPr>
        <p:spPr>
          <a:xfrm>
            <a:off x="1622152" y="2289944"/>
            <a:ext cx="4484266"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Hemanth Kasireddy</a:t>
            </a:r>
            <a:endParaRPr lang="en-US" sz="1350" dirty="0"/>
          </a:p>
        </p:txBody>
      </p:sp>
      <p:sp>
        <p:nvSpPr>
          <p:cNvPr id="15" name="Text 13"/>
          <p:cNvSpPr/>
          <p:nvPr/>
        </p:nvSpPr>
        <p:spPr>
          <a:xfrm>
            <a:off x="5937498" y="2289944"/>
            <a:ext cx="3021062"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RA2511056010022</a:t>
            </a:r>
            <a:endParaRPr lang="en-US" sz="1350" dirty="0"/>
          </a:p>
        </p:txBody>
      </p:sp>
      <p:sp>
        <p:nvSpPr>
          <p:cNvPr id="16" name="Text 14"/>
          <p:cNvSpPr/>
          <p:nvPr/>
        </p:nvSpPr>
        <p:spPr>
          <a:xfrm>
            <a:off x="642714" y="2757785"/>
            <a:ext cx="1148358"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2</a:t>
            </a:r>
            <a:endParaRPr lang="en-US" sz="1350" dirty="0"/>
          </a:p>
        </p:txBody>
      </p:sp>
      <p:sp>
        <p:nvSpPr>
          <p:cNvPr id="17" name="Text 15"/>
          <p:cNvSpPr/>
          <p:nvPr/>
        </p:nvSpPr>
        <p:spPr>
          <a:xfrm>
            <a:off x="1622152" y="2757785"/>
            <a:ext cx="4484266"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G Hima Sai</a:t>
            </a:r>
            <a:endParaRPr lang="en-US" sz="1350" dirty="0"/>
          </a:p>
        </p:txBody>
      </p:sp>
      <p:sp>
        <p:nvSpPr>
          <p:cNvPr id="18" name="Text 16"/>
          <p:cNvSpPr/>
          <p:nvPr/>
        </p:nvSpPr>
        <p:spPr>
          <a:xfrm>
            <a:off x="5937498" y="2757785"/>
            <a:ext cx="3021062"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RA2510056010011</a:t>
            </a:r>
            <a:endParaRPr lang="en-US" sz="1350" dirty="0"/>
          </a:p>
        </p:txBody>
      </p:sp>
      <p:sp>
        <p:nvSpPr>
          <p:cNvPr id="19" name="Text 17"/>
          <p:cNvSpPr/>
          <p:nvPr/>
        </p:nvSpPr>
        <p:spPr>
          <a:xfrm>
            <a:off x="642714" y="3225626"/>
            <a:ext cx="1148358"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3</a:t>
            </a:r>
            <a:endParaRPr lang="en-US" sz="1350" dirty="0"/>
          </a:p>
        </p:txBody>
      </p:sp>
      <p:sp>
        <p:nvSpPr>
          <p:cNvPr id="20" name="Text 18"/>
          <p:cNvSpPr/>
          <p:nvPr/>
        </p:nvSpPr>
        <p:spPr>
          <a:xfrm>
            <a:off x="1622152" y="3225626"/>
            <a:ext cx="4484266"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D Naga</a:t>
            </a:r>
            <a:endParaRPr lang="en-US" sz="1350" dirty="0"/>
          </a:p>
        </p:txBody>
      </p:sp>
      <p:sp>
        <p:nvSpPr>
          <p:cNvPr id="21" name="Text 19"/>
          <p:cNvSpPr/>
          <p:nvPr/>
        </p:nvSpPr>
        <p:spPr>
          <a:xfrm>
            <a:off x="5937498" y="3225626"/>
            <a:ext cx="3021062"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RA2511056010020</a:t>
            </a:r>
            <a:endParaRPr lang="en-US" sz="1350" dirty="0"/>
          </a:p>
        </p:txBody>
      </p:sp>
      <p:sp>
        <p:nvSpPr>
          <p:cNvPr id="22" name="Text 20"/>
          <p:cNvSpPr/>
          <p:nvPr/>
        </p:nvSpPr>
        <p:spPr>
          <a:xfrm>
            <a:off x="642714" y="3693468"/>
            <a:ext cx="1148358"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4</a:t>
            </a:r>
            <a:endParaRPr lang="en-US" sz="1350" dirty="0"/>
          </a:p>
        </p:txBody>
      </p:sp>
      <p:sp>
        <p:nvSpPr>
          <p:cNvPr id="23" name="Text 21"/>
          <p:cNvSpPr/>
          <p:nvPr/>
        </p:nvSpPr>
        <p:spPr>
          <a:xfrm>
            <a:off x="1622152" y="3693468"/>
            <a:ext cx="4484266"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B Naveen</a:t>
            </a:r>
            <a:endParaRPr lang="en-US" sz="1350" dirty="0"/>
          </a:p>
        </p:txBody>
      </p:sp>
      <p:sp>
        <p:nvSpPr>
          <p:cNvPr id="24" name="Text 22"/>
          <p:cNvSpPr/>
          <p:nvPr/>
        </p:nvSpPr>
        <p:spPr>
          <a:xfrm>
            <a:off x="5937498" y="3693468"/>
            <a:ext cx="3021062" cy="283443"/>
          </a:xfrm>
          <a:prstGeom prst="rect">
            <a:avLst/>
          </a:prstGeom>
          <a:noFill/>
          <a:ln/>
        </p:spPr>
        <p:txBody>
          <a:bodyPr wrap="none" lIns="0" tIns="0" rIns="0" bIns="0" rtlCol="0" anchor="t"/>
          <a:lstStyle/>
          <a:p>
            <a:pPr algn="l" indent="0" marL="0">
              <a:lnSpc>
                <a:spcPct val="133000"/>
              </a:lnSpc>
              <a:buNone/>
            </a:pPr>
            <a:r>
              <a:rPr lang="en-US" sz="1350" spc="-22" kern="0" dirty="0">
                <a:solidFill>
                  <a:srgbClr val="272525"/>
                </a:solidFill>
                <a:latin typeface="Inter" pitchFamily="34" charset="0"/>
                <a:ea typeface="Inter" pitchFamily="34" charset="-122"/>
                <a:cs typeface="Inter" pitchFamily="34" charset="-120"/>
              </a:rPr>
              <a:t>RA2511056010009</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837009"/>
            <a:ext cx="8151763" cy="442987"/>
          </a:xfrm>
          <a:prstGeom prst="rect">
            <a:avLst/>
          </a:prstGeom>
          <a:noFill/>
          <a:ln/>
        </p:spPr>
        <p:txBody>
          <a:bodyPr wrap="none" lIns="0" tIns="0" rIns="0" bIns="0" rtlCol="0" anchor="t"/>
          <a:lstStyle/>
          <a:p>
            <a:pPr algn="ctr" indent="0" marL="0">
              <a:lnSpc>
                <a:spcPct val="104000"/>
              </a:lnSpc>
              <a:buNone/>
            </a:pPr>
            <a:r>
              <a:rPr lang="en-US" sz="2750" b="1" spc="-84" kern="0" dirty="0">
                <a:solidFill>
                  <a:srgbClr val="F44444"/>
                </a:solidFill>
                <a:latin typeface="Inter Bold" pitchFamily="34" charset="0"/>
                <a:ea typeface="Inter Bold" pitchFamily="34" charset="-122"/>
                <a:cs typeface="Inter Bold" pitchFamily="34" charset="-120"/>
              </a:rPr>
              <a:t>PROBLEM STATEMENT</a:t>
            </a:r>
            <a:endParaRPr lang="en-US" sz="2750" dirty="0"/>
          </a:p>
        </p:txBody>
      </p:sp>
      <p:sp>
        <p:nvSpPr>
          <p:cNvPr id="3" name="Text 1"/>
          <p:cNvSpPr/>
          <p:nvPr/>
        </p:nvSpPr>
        <p:spPr>
          <a:xfrm>
            <a:off x="496119" y="1492597"/>
            <a:ext cx="8151763" cy="2813893"/>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spc="-22" kern="0" dirty="0">
                <a:solidFill>
                  <a:srgbClr val="272525"/>
                </a:solidFill>
                <a:latin typeface="Inter" pitchFamily="34" charset="0"/>
                <a:ea typeface="Inter" pitchFamily="34" charset="-122"/>
                <a:cs typeface="Inter" pitchFamily="34" charset="-120"/>
              </a:rPr>
              <a:t>With the increasing demands of academics, professional work, and personal responsibilities, individuals often find it challenging to maintain consistency in their daily activities and monitor their overall productivity. Although several productivity applications are available, most of them focus only on task completion or habit tracking, without providing a unified platform to measure, analyze, and improve daily performance.</a:t>
            </a:r>
            <a:endParaRPr lang="en-US" sz="1100" dirty="0"/>
          </a:p>
          <a:p>
            <a:pPr algn="l" indent="0" marL="0">
              <a:lnSpc>
                <a:spcPct val="133000"/>
              </a:lnSpc>
              <a:spcAft>
                <a:spcPts val="1250"/>
              </a:spcAft>
              <a:buNone/>
            </a:pPr>
            <a:r>
              <a:rPr lang="en-US" sz="1100" spc="-22" kern="0" dirty="0">
                <a:solidFill>
                  <a:srgbClr val="272525"/>
                </a:solidFill>
                <a:latin typeface="Inter" pitchFamily="34" charset="0"/>
                <a:ea typeface="Inter" pitchFamily="34" charset="-122"/>
                <a:cs typeface="Inter" pitchFamily="34" charset="-120"/>
              </a:rPr>
              <a:t>The absence of a structured system makes it difficult for users to evaluate their progress, identify productivity trends, and make informed decisions to achieve their short-term and long-term goals. Furthermore, many existing applications lack intuitive visual analytics and personalized insights that encourage continuous improvement.</a:t>
            </a:r>
            <a:endParaRPr lang="en-US" sz="1100" dirty="0"/>
          </a:p>
          <a:p>
            <a:pPr algn="l" indent="0" marL="0">
              <a:lnSpc>
                <a:spcPct val="133000"/>
              </a:lnSpc>
              <a:buNone/>
            </a:pPr>
            <a:r>
              <a:rPr lang="en-US" sz="1100" spc="-22" kern="0" dirty="0">
                <a:solidFill>
                  <a:srgbClr val="272525"/>
                </a:solidFill>
                <a:latin typeface="Inter" pitchFamily="34" charset="0"/>
                <a:ea typeface="Inter" pitchFamily="34" charset="-122"/>
                <a:cs typeface="Inter" pitchFamily="34" charset="-120"/>
              </a:rPr>
              <a:t>Therefore, there is a need for an integrated productivity management system that enables users to organize daily tasks, assign priority-based weights, calculate daily productivity as a measurable score, and visualize weekly and monthly performance through interactive dashboards and analytical reports. Such a system promotes better time management, self-discipline, and data-driven personal development.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92162"/>
            <a:ext cx="8151763" cy="401464"/>
          </a:xfrm>
          <a:prstGeom prst="rect">
            <a:avLst/>
          </a:prstGeom>
          <a:noFill/>
          <a:ln/>
        </p:spPr>
        <p:txBody>
          <a:bodyPr wrap="none" lIns="0" tIns="0" rIns="0" bIns="0" rtlCol="0" anchor="t"/>
          <a:lstStyle/>
          <a:p>
            <a:pPr algn="ctr" indent="0" marL="0">
              <a:lnSpc>
                <a:spcPct val="104000"/>
              </a:lnSpc>
              <a:buNone/>
            </a:pPr>
            <a:r>
              <a:rPr lang="en-US" sz="2500" b="1" spc="-76" kern="0" dirty="0">
                <a:solidFill>
                  <a:srgbClr val="F44444"/>
                </a:solidFill>
                <a:latin typeface="Inter Bold" pitchFamily="34" charset="0"/>
                <a:ea typeface="Inter Bold" pitchFamily="34" charset="-122"/>
                <a:cs typeface="Inter Bold" pitchFamily="34" charset="-120"/>
              </a:rPr>
              <a:t>USER INTERFERENCE</a:t>
            </a:r>
            <a:endParaRPr lang="en-US" sz="2500" dirty="0"/>
          </a:p>
        </p:txBody>
      </p:sp>
      <p:pic>
        <p:nvPicPr>
          <p:cNvPr id="3" name="Image 0" descr="preencoded.png">    </p:cNvPr>
          <p:cNvPicPr>
            <a:picLocks noChangeAspect="1"/>
          </p:cNvPicPr>
          <p:nvPr/>
        </p:nvPicPr>
        <p:blipFill>
          <a:blip r:embed="rId1"/>
          <a:stretch>
            <a:fillRect/>
          </a:stretch>
        </p:blipFill>
        <p:spPr>
          <a:xfrm>
            <a:off x="496119" y="1099170"/>
            <a:ext cx="3919165" cy="2495252"/>
          </a:xfrm>
          <a:prstGeom prst="rect">
            <a:avLst/>
          </a:prstGeom>
        </p:spPr>
      </p:pic>
      <p:pic>
        <p:nvPicPr>
          <p:cNvPr id="4" name="Image 1" descr="preencoded.png">    </p:cNvPr>
          <p:cNvPicPr>
            <a:picLocks noChangeAspect="1"/>
          </p:cNvPicPr>
          <p:nvPr/>
        </p:nvPicPr>
        <p:blipFill>
          <a:blip r:embed="rId2"/>
          <a:stretch>
            <a:fillRect/>
          </a:stretch>
        </p:blipFill>
        <p:spPr>
          <a:xfrm>
            <a:off x="4733479" y="1099170"/>
            <a:ext cx="3521199" cy="35211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2026-08-07T05:58:36Z</dcterms:created>
  <dcterms:modified xsi:type="dcterms:W3CDTF">2026-08-07T05:58:36Z</dcterms:modified>
</cp:coreProperties>
</file>